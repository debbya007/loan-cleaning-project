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4"/>
    <p:restoredTop sz="94610"/>
  </p:normalViewPr>
  <p:slideViewPr>
    <p:cSldViewPr snapToGrid="0" snapToObjects="1">
      <p:cViewPr>
        <p:scale>
          <a:sx n="81" d="100"/>
          <a:sy n="81" d="100"/>
        </p:scale>
        <p:origin x="44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9722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 everyone. Today I will walk through how we cleaned, scored, and studied 981 loan applications, and what that means for how we handle new applications going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there is no historical approval outcome in this data, we cannot train a real prediction model. We say that plainly up front instead of overselling what the score can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good analysis starts with clean data. These six problems, if left alone, would have quietly distorted every chart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weight reflects normal lending judgment, not a statistical model, since we have no outcome data to fit a model 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split credit history rate by five groups. The biggest gap by far is number of dependents, not gender or marriage as some might expect.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confirms a real, if modest, risk signal. The least verifiable applicants are asking for slightly more relative to what they earn.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Geography is not a useful stand in for risk here. Any area based pricing difference would not be supported by this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case where the data did not support our first assumption. We report that honestly instead of forcing the expected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expected a co-applicant to signal lower risk. The real data shows the opposite direction, so we do not build that assumption into the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case where the common assumption did not hold up. Self-employed applicants are not showing worse credit history in this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payoff. Instead of treating every application the same way, the score sends most applicants down a fast path and saves manual work for the small group that actually needs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project in one frame. Clean data, six honest checks, and a real decision about how we route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D1130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1D11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3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LOAN PORTFOLIO ANALYTICS</a:t>
            </a:r>
            <a:endParaRPr lang="en-US" sz="2400" dirty="0">
              <a:latin typeface="Gill Sans Ultra Bold" panose="020B0A02020104020203" pitchFamily="34" charset="77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"/>
                <a:ea typeface="Cambria" pitchFamily="34" charset="-122"/>
                <a:cs typeface="Cambria" pitchFamily="34" charset="-120"/>
              </a:rPr>
              <a:t>Loan Applicant Credit Risk and</a:t>
            </a:r>
            <a:endParaRPr lang="en-US" sz="3600" dirty="0">
              <a:latin typeface=""/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"/>
                <a:ea typeface="Cambria" pitchFamily="34" charset="-122"/>
                <a:cs typeface="Cambria" pitchFamily="34" charset="-120"/>
              </a:rPr>
              <a:t>Approval Readiness Score</a:t>
            </a:r>
            <a:endParaRPr lang="en-US" sz="3600" dirty="0">
              <a:latin typeface="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42062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D8C9EC"/>
                </a:solidFill>
                <a:latin typeface=""/>
                <a:ea typeface="Calibri" pitchFamily="34" charset="-122"/>
                <a:cs typeface="Calibri" pitchFamily="34" charset="-120"/>
              </a:rPr>
              <a:t>A clear scorecard for sorting 981 loan applications, built from real underwriting signals, presented as data, then insight, then a business decision.</a:t>
            </a:r>
            <a:endParaRPr lang="en-US" sz="1400" dirty="0">
              <a:latin typeface="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THE USE CASE</a:t>
            </a:r>
            <a:endParaRPr lang="en-US" sz="1250" dirty="0">
              <a:latin typeface="Gill Sans Ultra Bold" panose="020B0A02020104020203" pitchFamily="34" charset="7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"/>
                <a:ea typeface="Cambria" pitchFamily="34" charset="-122"/>
                <a:cs typeface="Cambria" pitchFamily="34" charset="-120"/>
              </a:rPr>
              <a:t>Can we tell how ready an applicant is for approval?</a:t>
            </a:r>
            <a:endParaRPr lang="en-US" sz="2500" dirty="0">
              <a:latin typeface="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A lender wants to know how ready each applicant looks for approval, before a loan officer opens the file. We cleaned the raw data and built an Approval Readiness Score for every applicant.</a:t>
            </a:r>
            <a:endParaRPr lang="en-US" sz="1400" dirty="0">
              <a:latin typeface="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D1130"/>
          </a:solidFill>
          <a:ln w="15875">
            <a:solidFill>
              <a:srgbClr val="D6283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880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62839"/>
                </a:solidFill>
                <a:latin typeface=""/>
                <a:ea typeface="Calibri" pitchFamily="34" charset="-122"/>
                <a:cs typeface="Calibri" pitchFamily="34" charset="-120"/>
              </a:rPr>
              <a:t>Important: </a:t>
            </a:r>
            <a:r>
              <a:rPr lang="en-US" sz="14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There is no real approval or denial result in this data. This score is our best estimate of approval readiness. It is a triage tool, not a guarantee of a bank decision.</a:t>
            </a:r>
            <a:endParaRPr lang="en-US" sz="1400" dirty="0">
              <a:latin typeface="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4297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981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scored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3977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37560" y="4297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scorecard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3977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126480" y="4297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628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79.4%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High readiness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15400" y="397764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915400" y="42976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D628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6.2%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9052560" y="516636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Low, need review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STEP 1: DATA CLEANING</a:t>
            </a:r>
            <a:endParaRPr lang="en-US" sz="1250" dirty="0">
              <a:latin typeface="Gill Sans Ultra Bold" panose="020B0A02020104020203" pitchFamily="34" charset="7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"/>
                <a:ea typeface="Cambria" pitchFamily="34" charset="-122"/>
                <a:cs typeface="Cambria" pitchFamily="34" charset="-120"/>
              </a:rPr>
              <a:t>Six problems found, and fixed, in the raw file.</a:t>
            </a:r>
            <a:endParaRPr lang="en-US" sz="2500" dirty="0">
              <a:latin typeface="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01368"/>
            <a:ext cx="384048" cy="384048"/>
          </a:xfrm>
          <a:prstGeom prst="ellipse">
            <a:avLst/>
          </a:prstGeom>
          <a:solidFill>
            <a:srgbClr val="2E1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764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up labels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11226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written two ways. Property area had 14 misspellings of 3 real places.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46520" y="1600200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647688" y="1801368"/>
            <a:ext cx="384048" cy="384048"/>
          </a:xfrm>
          <a:prstGeom prst="ellipse">
            <a:avLst/>
          </a:prstGeom>
          <a:solidFill>
            <a:srgbClr val="2E1A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4768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1764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112264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columns had gaps, including income, loan amount, and credit history.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27832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429000"/>
            <a:ext cx="384048" cy="384048"/>
          </a:xfrm>
          <a:prstGeom prst="ellipse">
            <a:avLst/>
          </a:prstGeom>
          <a:solidFill>
            <a:srgbClr val="2E1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392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data types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373989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 mixed numbers with text like 3+, blocking normal math.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3227832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647688" y="3429000"/>
            <a:ext cx="384048" cy="384048"/>
          </a:xfrm>
          <a:prstGeom prst="ellipse">
            <a:avLst/>
          </a:prstGeom>
          <a:solidFill>
            <a:srgbClr val="2E1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47688" y="3429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339242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target column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3739896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approval result exists, so we built our own readiness score.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855464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056632"/>
            <a:ext cx="384048" cy="384048"/>
          </a:xfrm>
          <a:prstGeom prst="ellipse">
            <a:avLst/>
          </a:prstGeom>
          <a:solidFill>
            <a:srgbClr val="2E1A4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49808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1325880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Unclear units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36752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was stored in thousands. We converted it to real currency.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4855464"/>
            <a:ext cx="55321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647688" y="5056632"/>
            <a:ext cx="384048" cy="384048"/>
          </a:xfrm>
          <a:prstGeom prst="ellipse">
            <a:avLst/>
          </a:prstGeom>
          <a:solidFill>
            <a:srgbClr val="2E1A4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647688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7223760" y="50200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Possible repeats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223760" y="5367528"/>
            <a:ext cx="4572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checked for duplicate applications. We found none.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STEP 2: THE SCORECARD</a:t>
            </a:r>
            <a:endParaRPr lang="en-US" sz="1250" dirty="0">
              <a:latin typeface="Gill Sans Ultra Bold" panose="020B0A02020104020203" pitchFamily="34" charset="7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"/>
                <a:ea typeface="Cambria" pitchFamily="34" charset="-122"/>
                <a:cs typeface="Cambria" pitchFamily="34" charset="-120"/>
              </a:rPr>
              <a:t>A 100 point score, built from five factors</a:t>
            </a:r>
            <a:endParaRPr lang="en-US" sz="2500" dirty="0">
              <a:latin typeface="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2E1A4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2103120" cy="411480"/>
          </a:xfrm>
          <a:prstGeom prst="rect">
            <a:avLst/>
          </a:prstGeom>
          <a:solidFill>
            <a:srgbClr val="2E1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7465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79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History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88920" y="169164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788920" y="169164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2E1A47"/>
          </a:solidFill>
          <a:ln/>
        </p:spPr>
      </p:sp>
      <p:sp>
        <p:nvSpPr>
          <p:cNvPr id="12" name="Shape 10"/>
          <p:cNvSpPr/>
          <p:nvPr/>
        </p:nvSpPr>
        <p:spPr>
          <a:xfrm>
            <a:off x="2788920" y="2148840"/>
            <a:ext cx="2103120" cy="411480"/>
          </a:xfrm>
          <a:prstGeom prst="rect">
            <a:avLst/>
          </a:prstGeom>
          <a:solidFill>
            <a:srgbClr val="2E1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88920" y="17465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880360" y="2679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Loan to Income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169164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0" y="169164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2E1A47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0" y="2148840"/>
            <a:ext cx="2103120" cy="411480"/>
          </a:xfrm>
          <a:prstGeom prst="rect">
            <a:avLst/>
          </a:prstGeom>
          <a:solidFill>
            <a:srgbClr val="2E1A4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0" y="17465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120640" y="2679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Stability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269480" y="169164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7269480" y="169164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2E1A47"/>
          </a:solidFill>
          <a:ln/>
        </p:spPr>
      </p:sp>
      <p:sp>
        <p:nvSpPr>
          <p:cNvPr id="24" name="Shape 22"/>
          <p:cNvSpPr/>
          <p:nvPr/>
        </p:nvSpPr>
        <p:spPr>
          <a:xfrm>
            <a:off x="7269480" y="2148840"/>
            <a:ext cx="2103120" cy="411480"/>
          </a:xfrm>
          <a:prstGeom prst="rect">
            <a:avLst/>
          </a:prstGeom>
          <a:solidFill>
            <a:srgbClr val="2E1A4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269480" y="17465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726948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679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509760" y="169164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9509760" y="1691640"/>
            <a:ext cx="2103120" cy="868680"/>
          </a:xfrm>
          <a:prstGeom prst="roundRect">
            <a:avLst>
              <a:gd name="adj" fmla="val 10526"/>
            </a:avLst>
          </a:prstGeom>
          <a:solidFill>
            <a:srgbClr val="2E1A47"/>
          </a:solidFill>
          <a:ln/>
        </p:spPr>
      </p:sp>
      <p:sp>
        <p:nvSpPr>
          <p:cNvPr id="30" name="Shape 28"/>
          <p:cNvSpPr/>
          <p:nvPr/>
        </p:nvSpPr>
        <p:spPr>
          <a:xfrm>
            <a:off x="9509760" y="2148840"/>
            <a:ext cx="2103120" cy="411480"/>
          </a:xfrm>
          <a:prstGeom prst="rect">
            <a:avLst/>
          </a:prstGeom>
          <a:solidFill>
            <a:srgbClr val="2E1A4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509760" y="1746504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9509760" y="22402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9601200" y="2679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2E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48640" y="365760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1D1130"/>
          </a:solidFill>
          <a:ln w="12700">
            <a:solidFill>
              <a:srgbClr val="D6283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36576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2839"/>
                </a:solidFill>
                <a:latin typeface=""/>
                <a:ea typeface="Calibri" pitchFamily="34" charset="-122"/>
                <a:cs typeface="Calibri" pitchFamily="34" charset="-120"/>
              </a:rPr>
              <a:t>Important: </a:t>
            </a:r>
            <a:r>
              <a:rPr lang="en-US" sz="14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Credit History alone is 40 of the 100 points, on purpose. This means the final score will often follow the credit history pattern closely. That is expected, not a flaw.</a:t>
            </a:r>
            <a:endParaRPr lang="en-US" sz="1400" dirty="0">
              <a:latin typeface=""/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548640" y="4617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Bands: High is 70 or more (fast track). Medium is 50 to 69 (standard review). Low is under 50 (extra documents).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Gill Sans Ultra Bold" panose="020B0A02020104020203" pitchFamily="34" charset="77"/>
                <a:ea typeface="Cambria" pitchFamily="34" charset="-122"/>
                <a:cs typeface="Cambria" pitchFamily="34" charset="-120"/>
              </a:rPr>
              <a:t>Why build a scorecard, not a machine learning model?</a:t>
            </a:r>
            <a:endParaRPr lang="en-US" sz="1500" dirty="0">
              <a:latin typeface="Gill Sans Ultra Bold" panose="020B0A02020104020203" pitchFamily="34" charset="77"/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There is no real approval outcome in the data to train a model on, so we built clear, expert weighted rules instead. If real approval history becomes available later, this can be upgraded to a trained model.</a:t>
            </a:r>
            <a:endParaRPr lang="en-US" sz="1400" dirty="0">
              <a:latin typeface=""/>
            </a:endParaRPr>
          </a:p>
        </p:txBody>
      </p:sp>
      <p:sp>
        <p:nvSpPr>
          <p:cNvPr id="39" name="Text 37"/>
          <p:cNvSpPr txBox="1"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46262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FINDING 1 OF 6</a:t>
            </a:r>
            <a:endParaRPr lang="en-US" sz="1250" dirty="0">
              <a:latin typeface="Gill Sans Ultra Bold" panose="020B0A02020104020203" pitchFamily="34" charset="7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34997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"/>
                <a:ea typeface="Cambria" pitchFamily="34" charset="-122"/>
                <a:cs typeface="Cambria" pitchFamily="34" charset="-120"/>
              </a:rPr>
              <a:t>Who has good credit history, by group</a:t>
            </a:r>
            <a:endParaRPr lang="en-US" sz="2500" dirty="0">
              <a:latin typeface="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149264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</p:spPr>
      </p:sp>
      <p:pic>
        <p:nvPicPr>
          <p:cNvPr id="5" name="Image 0" descr="charts/analysis1_depend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40912"/>
            <a:ext cx="525780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149264"/>
            <a:ext cx="566928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/>
        </p:spPr>
      </p:sp>
      <p:pic>
        <p:nvPicPr>
          <p:cNvPr id="7" name="Image 1" descr="charts/analysis1_edu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340912"/>
            <a:ext cx="5486400" cy="3794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468864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2839"/>
                </a:solidFill>
                <a:latin typeface=""/>
                <a:ea typeface="Calibri" pitchFamily="34" charset="-122"/>
                <a:cs typeface="Calibri" pitchFamily="34" charset="-120"/>
              </a:rPr>
              <a:t>Applicants with 3 or more dependents have the lowest credit history rate, at 75.9%</a:t>
            </a:r>
            <a:r>
              <a:rPr lang="en-US" sz="12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. Self-employed applicants and graduates both score above average.</a:t>
            </a:r>
            <a:endParaRPr lang="en-US" sz="1200" dirty="0">
              <a:latin typeface=""/>
            </a:endParaRPr>
          </a:p>
        </p:txBody>
      </p:sp>
      <p:sp>
        <p:nvSpPr>
          <p:cNvPr id="9" name="Shape 5"/>
          <p:cNvSpPr/>
          <p:nvPr/>
        </p:nvSpPr>
        <p:spPr>
          <a:xfrm>
            <a:off x="548640" y="610957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1D1130"/>
          </a:solidFill>
          <a:ln w="9525">
            <a:solidFill>
              <a:srgbClr val="D4A84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" y="6144142"/>
            <a:ext cx="10661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BUSINESS DECISION</a:t>
            </a:r>
            <a:endParaRPr lang="en-US" sz="1000" dirty="0">
              <a:latin typeface="Gill Sans Ultra Bold" panose="020B0A02020104020203" pitchFamily="34" charset="77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749808" y="6453034"/>
            <a:ext cx="1066190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an </a:t>
            </a:r>
            <a:r>
              <a:rPr lang="en-US" sz="12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extra income check for applicants with 3 or more dependents. Do not add extra checks for self-employed status alone.</a:t>
            </a:r>
            <a:endParaRPr lang="en-US" sz="1200" dirty="0">
              <a:latin typeface="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3759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FINDING 2 OF 6</a:t>
            </a:r>
            <a:endParaRPr lang="en-US" sz="1250" dirty="0">
              <a:latin typeface="Gill Sans Ultra Bold" panose="020B0A02020104020203" pitchFamily="34" charset="7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"/>
                <a:ea typeface="Cambria" pitchFamily="34" charset="-122"/>
                <a:cs typeface="Cambria" pitchFamily="34" charset="-120"/>
              </a:rPr>
              <a:t>Applicants with no credit history carry a heavier loan burden</a:t>
            </a:r>
            <a:endParaRPr lang="en-US" sz="2500" dirty="0">
              <a:latin typeface="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6751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</p:spPr>
      </p:sp>
      <p:pic>
        <p:nvPicPr>
          <p:cNvPr id="5" name="Image 0" descr="charts/analysis2_loan_burd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6400800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6092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Gill Sans Ultra Bold" panose="020B0A02020104020203" pitchFamily="34" charset="77"/>
                <a:ea typeface="Cambria" pitchFamily="34" charset="-122"/>
                <a:cs typeface="Cambria" pitchFamily="34" charset="-120"/>
              </a:rPr>
              <a:t>What we found</a:t>
            </a:r>
            <a:endParaRPr lang="en-US" sz="1500" dirty="0">
              <a:latin typeface="Gill Sans Ultra Bold" panose="020B0A02020104020203" pitchFamily="34" charset="77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360920" y="21488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62839"/>
                </a:solidFill>
                <a:latin typeface=""/>
                <a:ea typeface="Calibri" pitchFamily="34" charset="-122"/>
                <a:cs typeface="Calibri" pitchFamily="34" charset="-120"/>
              </a:rPr>
              <a:t>No-credit-history applicants have the highest loan burden score, 21.3 versus 19.7</a:t>
            </a:r>
            <a:r>
              <a:rPr lang="en-US" sz="14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 for applicants with a known credit history.</a:t>
            </a:r>
            <a:endParaRPr lang="en-US" sz="1400" dirty="0">
              <a:latin typeface="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360920" y="4023360"/>
            <a:ext cx="4297680" cy="1965960"/>
          </a:xfrm>
          <a:prstGeom prst="roundRect">
            <a:avLst>
              <a:gd name="adj" fmla="val 4651"/>
            </a:avLst>
          </a:prstGeom>
          <a:solidFill>
            <a:srgbClr val="1D1130"/>
          </a:solidFill>
          <a:ln w="9525">
            <a:solidFill>
              <a:srgbClr val="D4A8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62088" y="413308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BUSINESS DECISION</a:t>
            </a:r>
            <a:endParaRPr lang="en-US" sz="1050" dirty="0">
              <a:latin typeface="Gill Sans Ultra Bold" panose="020B0A02020104020203" pitchFamily="34" charset="77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538338" y="4443984"/>
            <a:ext cx="389534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Set a stricter loan to income limit for applicants with no credit history, instead of approving based on income alone.</a:t>
            </a:r>
            <a:endParaRPr lang="en-US" sz="1200" dirty="0">
              <a:latin typeface="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FINDING 3 OF 6</a:t>
            </a:r>
            <a:endParaRPr lang="en-US" sz="1250" dirty="0">
              <a:latin typeface="Gill Sans Ultra Bold" panose="020B0A02020104020203" pitchFamily="34" charset="7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"/>
                <a:ea typeface="Cambria" pitchFamily="34" charset="-122"/>
                <a:cs typeface="Cambria" pitchFamily="34" charset="-120"/>
              </a:rPr>
              <a:t>Location barely affects credit history</a:t>
            </a:r>
            <a:endParaRPr lang="en-US" sz="2500" dirty="0">
              <a:latin typeface="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6751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</p:spPr>
      </p:sp>
      <p:pic>
        <p:nvPicPr>
          <p:cNvPr id="5" name="Image 0" descr="charts/analysis3_ar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6400800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6092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Gill Sans Ultra Bold" panose="020B0A02020104020203" pitchFamily="34" charset="77"/>
                <a:ea typeface="Cambria" pitchFamily="34" charset="-122"/>
                <a:cs typeface="Cambria" pitchFamily="34" charset="-120"/>
              </a:rPr>
              <a:t>What we found</a:t>
            </a:r>
            <a:endParaRPr lang="en-US" sz="1500" dirty="0">
              <a:latin typeface="Gill Sans Ultra Bold" panose="020B0A02020104020203" pitchFamily="34" charset="77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360920" y="214884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Credit history rates are close across Rural, Semiurban, and Urban applicants, within about 2 points of each other.</a:t>
            </a:r>
            <a:endParaRPr lang="en-US" sz="1400" dirty="0">
              <a:latin typeface="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360920" y="4023360"/>
            <a:ext cx="4297680" cy="1965960"/>
          </a:xfrm>
          <a:prstGeom prst="roundRect">
            <a:avLst>
              <a:gd name="adj" fmla="val 4651"/>
            </a:avLst>
          </a:prstGeom>
          <a:solidFill>
            <a:srgbClr val="1D1130"/>
          </a:solidFill>
          <a:ln w="9525">
            <a:solidFill>
              <a:srgbClr val="D4A8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62088" y="413308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BUSINESS DECISION</a:t>
            </a:r>
            <a:endParaRPr lang="en-US" sz="1050" dirty="0">
              <a:latin typeface="Gill Sans Ultra Bold" panose="020B0A02020104020203" pitchFamily="34" charset="77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562088" y="4443984"/>
            <a:ext cx="389534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Do not price loans differently by area based on assumed risk. </a:t>
            </a:r>
            <a:r>
              <a:rPr lang="en-US" sz="1200" dirty="0">
                <a:solidFill>
                  <a:srgbClr val="D62839"/>
                </a:solidFill>
                <a:latin typeface=""/>
                <a:ea typeface="Calibri" pitchFamily="34" charset="-122"/>
                <a:cs typeface="Calibri" pitchFamily="34" charset="-120"/>
              </a:rPr>
              <a:t>Rural and semiurban applicants deserve the same standard terms as urban applicants.</a:t>
            </a:r>
            <a:endParaRPr lang="en-US" sz="1200" dirty="0">
              <a:latin typeface="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FINDING 4 OF 6</a:t>
            </a:r>
            <a:endParaRPr lang="en-US" sz="1250" dirty="0">
              <a:latin typeface="Gill Sans Ultra Bold" panose="020B0A02020104020203" pitchFamily="34" charset="7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"/>
                <a:ea typeface="Cambria" pitchFamily="34" charset="-122"/>
                <a:cs typeface="Cambria" pitchFamily="34" charset="-120"/>
              </a:rPr>
              <a:t>Loan size does not predict credit history</a:t>
            </a:r>
            <a:endParaRPr lang="en-US" sz="2500" dirty="0">
              <a:latin typeface="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6751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</p:spPr>
      </p:sp>
      <p:pic>
        <p:nvPicPr>
          <p:cNvPr id="5" name="Image 0" descr="charts/analysis4_loan_amou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6400800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6092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Gill Sans Ultra Bold" panose="020B0A02020104020203" pitchFamily="34" charset="77"/>
                <a:ea typeface="Cambria" pitchFamily="34" charset="-122"/>
                <a:cs typeface="Cambria" pitchFamily="34" charset="-120"/>
              </a:rPr>
              <a:t>What we found</a:t>
            </a:r>
            <a:endParaRPr lang="en-US" sz="1500" dirty="0">
              <a:latin typeface="Gill Sans Ultra Bold" panose="020B0A02020104020203" pitchFamily="34" charset="77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360920" y="21488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2839"/>
                </a:solidFill>
                <a:latin typeface=""/>
                <a:ea typeface="Calibri" pitchFamily="34" charset="-122"/>
                <a:cs typeface="Calibri" pitchFamily="34" charset="-120"/>
              </a:rPr>
              <a:t>Correction: </a:t>
            </a:r>
            <a:r>
              <a:rPr lang="en-US" sz="12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We expected smaller loans to line up with good credit history. Average loan amount is nearly identical across all three groups here.</a:t>
            </a:r>
            <a:endParaRPr lang="en-US" sz="1200" dirty="0">
              <a:latin typeface="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360920" y="4023360"/>
            <a:ext cx="4297680" cy="1965960"/>
          </a:xfrm>
          <a:prstGeom prst="roundRect">
            <a:avLst>
              <a:gd name="adj" fmla="val 4651"/>
            </a:avLst>
          </a:prstGeom>
          <a:solidFill>
            <a:srgbClr val="1D1130"/>
          </a:solidFill>
          <a:ln w="9525">
            <a:solidFill>
              <a:srgbClr val="D4A8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62088" y="413308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BUSINESS DECISION</a:t>
            </a:r>
            <a:endParaRPr lang="en-US" sz="1050" dirty="0">
              <a:latin typeface="Gill Sans Ultra Bold" panose="020B0A02020104020203" pitchFamily="34" charset="77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562088" y="4443984"/>
            <a:ext cx="389534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Do not use loan size as a stand in for credit risk. Screen using the credit history field directly, not the size of the loan requested.</a:t>
            </a:r>
            <a:endParaRPr lang="en-US" sz="1200" dirty="0">
              <a:latin typeface="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FINDING 5 OF 6</a:t>
            </a:r>
            <a:endParaRPr lang="en-US" sz="1250" dirty="0">
              <a:latin typeface="Gill Sans Ultra Bold" panose="020B0A02020104020203" pitchFamily="34" charset="7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"/>
                <a:ea typeface="Cambria" pitchFamily="34" charset="-122"/>
                <a:cs typeface="Cambria" pitchFamily="34" charset="-120"/>
              </a:rPr>
              <a:t>A co-applicant does not clearly lower risk</a:t>
            </a:r>
            <a:endParaRPr lang="en-US" sz="2500" dirty="0">
              <a:latin typeface="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6751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</p:spPr>
      </p:sp>
      <p:pic>
        <p:nvPicPr>
          <p:cNvPr id="5" name="Image 0" descr="charts/analysis5_coapplica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6400800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6092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Gill Sans Ultra Bold" panose="020B0A02020104020203" pitchFamily="34" charset="77"/>
                <a:ea typeface="Cambria" pitchFamily="34" charset="-122"/>
                <a:cs typeface="Cambria" pitchFamily="34" charset="-120"/>
              </a:rPr>
              <a:t>What we found</a:t>
            </a:r>
            <a:endParaRPr lang="en-US" sz="1500" dirty="0">
              <a:latin typeface="Gill Sans Ultra Bold" panose="020B0A02020104020203" pitchFamily="34" charset="77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360920" y="21488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2839"/>
                </a:solidFill>
                <a:latin typeface=""/>
                <a:ea typeface="Calibri" pitchFamily="34" charset="-122"/>
                <a:cs typeface="Calibri" pitchFamily="34" charset="-120"/>
              </a:rPr>
              <a:t>Correction: </a:t>
            </a:r>
            <a:r>
              <a:rPr lang="en-US" sz="12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Applicants with a co-applicant do not show better credit history. The rate is actually slightly lower, and their loan requests are bigger.</a:t>
            </a:r>
            <a:endParaRPr lang="en-US" sz="1200" dirty="0">
              <a:latin typeface="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360920" y="4023360"/>
            <a:ext cx="4297680" cy="1965960"/>
          </a:xfrm>
          <a:prstGeom prst="roundRect">
            <a:avLst>
              <a:gd name="adj" fmla="val 4651"/>
            </a:avLst>
          </a:prstGeom>
          <a:solidFill>
            <a:srgbClr val="1D1130"/>
          </a:solidFill>
          <a:ln w="9525">
            <a:solidFill>
              <a:srgbClr val="D4A8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62088" y="413308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BUSINESS DECISION</a:t>
            </a:r>
            <a:endParaRPr lang="en-US" sz="1050" dirty="0">
              <a:latin typeface="Gill Sans Ultra Bold" panose="020B0A02020104020203" pitchFamily="34" charset="77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562088" y="4443984"/>
            <a:ext cx="389534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Do not automatically fast track applications with a co-applicant. Review them with the same care as any other application.</a:t>
            </a:r>
            <a:endParaRPr lang="en-US" sz="1200" dirty="0">
              <a:latin typeface="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6 OF 6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Self-employed applicants are not riskier here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66751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/>
        </p:spPr>
      </p:sp>
      <p:pic>
        <p:nvPicPr>
          <p:cNvPr id="5" name="Image 0" descr="charts/analysis6_education_selfemploy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783080"/>
            <a:ext cx="6400800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60920" y="17373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60920" y="2148840"/>
            <a:ext cx="4297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Correction: </a:t>
            </a: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Self-employed applicants show an equal or better credit history rate than salaried applicants, not worse as often assumed.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360920" y="4023360"/>
            <a:ext cx="4297680" cy="1965960"/>
          </a:xfrm>
          <a:prstGeom prst="roundRect">
            <a:avLst>
              <a:gd name="adj" fmla="val 4651"/>
            </a:avLst>
          </a:prstGeom>
          <a:solidFill>
            <a:srgbClr val="1D1130"/>
          </a:solidFill>
          <a:ln w="9525">
            <a:solidFill>
              <a:srgbClr val="D4A84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62088" y="4133088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BUSINESS DECISION</a:t>
            </a:r>
            <a:endParaRPr lang="en-US" sz="1050" dirty="0">
              <a:latin typeface="Gill Sans Ultra Bold" panose="020B0A02020104020203" pitchFamily="34" charset="77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562088" y="4443984"/>
            <a:ext cx="3895344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"/>
                <a:ea typeface="Calibri" pitchFamily="34" charset="-122"/>
                <a:cs typeface="Calibri" pitchFamily="34" charset="-120"/>
              </a:rPr>
              <a:t>Drop the assumption that self-employed applicants need harsher credit screening. Still verify their income documents, but not due to higher risk.</a:t>
            </a:r>
            <a:endParaRPr lang="en-US" sz="1200" dirty="0">
              <a:latin typeface="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754880"/>
            <a:ext cx="4572000" cy="4572000"/>
          </a:xfrm>
          <a:prstGeom prst="ellipse">
            <a:avLst/>
          </a:prstGeom>
          <a:solidFill>
            <a:srgbClr val="1D113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THE BUSINESS DECISION</a:t>
            </a:r>
            <a:endParaRPr lang="en-US" sz="1250" dirty="0">
              <a:latin typeface="Gill Sans Ultra Bold" panose="020B0A02020104020203" pitchFamily="34" charset="77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"/>
                <a:ea typeface="Cambria" pitchFamily="34" charset="-122"/>
                <a:cs typeface="Cambria" pitchFamily="34" charset="-120"/>
              </a:rPr>
              <a:t>Sort applicants by score band. Do not treat every case the same.</a:t>
            </a:r>
            <a:endParaRPr lang="en-US" sz="2500" dirty="0">
              <a:latin typeface="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D113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39112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391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9202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track High </a:t>
            </a:r>
            <a:r>
              <a:rPr lang="en-US" sz="1500" b="1" dirty="0">
                <a:solidFill>
                  <a:srgbClr val="D628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(79.4%)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28600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70 or above. About 4 in 5 applicants. Give them a lighter, faster approval path.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319272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D1130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575304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5753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45643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 review for Medium </a:t>
            </a:r>
            <a:r>
              <a:rPr lang="en-US" sz="1500" b="1" dirty="0">
                <a:solidFill>
                  <a:srgbClr val="D628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(14.4%)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822192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50 to 69. A normal human review. The score flags them, a person decides.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855464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1D1130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5111496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51114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419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99262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 documents for Low </a:t>
            </a:r>
            <a:r>
              <a:rPr lang="en-US" sz="1500" b="1" dirty="0">
                <a:solidFill>
                  <a:srgbClr val="D628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(6.2%)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535838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under 50, mostly no credit history cases. Ask for more proof, do not auto reject.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E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THE STORY, IN ONE SLIDE</a:t>
            </a:r>
            <a:endParaRPr lang="en-US" sz="1250" dirty="0">
              <a:latin typeface="Gill Sans Ultra Bold" panose="020B0A02020104020203" pitchFamily="34" charset="77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"/>
                <a:ea typeface="Cambria" pitchFamily="34" charset="-122"/>
                <a:cs typeface="Cambria" pitchFamily="34" charset="-120"/>
              </a:rPr>
              <a:t>Data, then insight, then decision</a:t>
            </a:r>
            <a:endParaRPr lang="en-US" sz="2500" dirty="0">
              <a:latin typeface="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D11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9620" y="2148840"/>
            <a:ext cx="30708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>
              <a:latin typeface="Gill Sans Ultra Bold" panose="020B0A02020104020203" pitchFamily="34" charset="77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77240" y="26517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981 applications, cleaned. Six problems fixed. Credit history gaps kept as a signal, not erased.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069080" y="3474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D11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2148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INSIGHT</a:t>
            </a:r>
            <a:endParaRPr lang="en-US" sz="1500" dirty="0">
              <a:latin typeface="Gill Sans Ultra Bold" panose="020B0A02020104020203" pitchFamily="34" charset="77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0" y="26517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checks done. Credit history and loan burden matter. </a:t>
            </a:r>
            <a:r>
              <a:rPr lang="en-US" sz="125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Area, loan size, co-applicant, and self-employment do not, once checked.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347472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138160" y="1920240"/>
            <a:ext cx="3520440" cy="3749040"/>
          </a:xfrm>
          <a:prstGeom prst="roundRect">
            <a:avLst>
              <a:gd name="adj" fmla="val 3117"/>
            </a:avLst>
          </a:prstGeom>
          <a:solidFill>
            <a:srgbClr val="1D113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21488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D4A843"/>
                </a:solidFill>
                <a:latin typeface="Gill Sans Ultra Bold" panose="020B0A02020104020203" pitchFamily="34" charset="77"/>
                <a:ea typeface="Calibri" pitchFamily="34" charset="-122"/>
                <a:cs typeface="Calibri" pitchFamily="34" charset="-120"/>
              </a:rPr>
              <a:t>DECISION</a:t>
            </a:r>
            <a:endParaRPr lang="en-US" sz="1500" dirty="0">
              <a:latin typeface="Gill Sans Ultra Bold" panose="020B0A02020104020203" pitchFamily="34" charset="77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366760" y="265176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band. Fast track </a:t>
            </a:r>
            <a:r>
              <a:rPr lang="en-US" sz="1250" dirty="0">
                <a:solidFill>
                  <a:srgbClr val="D628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review 14%, verify the last 6% by hand.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164305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D8C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1329</Words>
  <Application>Microsoft Macintosh PowerPoint</Application>
  <PresentationFormat>Widescreen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Gill Sans Ultra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Deborah Akinbola</cp:lastModifiedBy>
  <cp:revision>2</cp:revision>
  <dcterms:created xsi:type="dcterms:W3CDTF">2026-09-16T06:30:56Z</dcterms:created>
  <dcterms:modified xsi:type="dcterms:W3CDTF">2026-09-16T07:04:46Z</dcterms:modified>
</cp:coreProperties>
</file>